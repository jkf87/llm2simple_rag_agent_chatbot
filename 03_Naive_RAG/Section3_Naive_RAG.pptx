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0"/>
            <a:ext cx="45720" cy="45720"/>
          </a:xfrm>
          <a:prstGeom prst="ellipse">
            <a:avLst/>
          </a:prstGeom>
          <a:solidFill>
            <a:srgbClr val="4ECDC4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1371600"/>
            <a:ext cx="45720" cy="45720"/>
          </a:xfrm>
          <a:prstGeom prst="ellipse">
            <a:avLst/>
          </a:prstGeom>
          <a:solidFill>
            <a:srgbClr val="4ECDC4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371600"/>
            <a:ext cx="45720" cy="45720"/>
          </a:xfrm>
          <a:prstGeom prst="ellipse">
            <a:avLst/>
          </a:prstGeom>
          <a:solidFill>
            <a:srgbClr val="4ECDC4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371600"/>
            <a:ext cx="45720" cy="45720"/>
          </a:xfrm>
          <a:prstGeom prst="ellipse">
            <a:avLst/>
          </a:prstGeom>
          <a:solidFill>
            <a:srgbClr val="4ECDC4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1371600"/>
            <a:ext cx="45720" cy="45720"/>
          </a:xfrm>
          <a:prstGeom prst="ellipse">
            <a:avLst/>
          </a:prstGeom>
          <a:solidFill>
            <a:srgbClr val="4ECDC4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43000" y="1371600"/>
            <a:ext cx="45720" cy="45720"/>
          </a:xfrm>
          <a:prstGeom prst="ellipse">
            <a:avLst/>
          </a:prstGeom>
          <a:solidFill>
            <a:srgbClr val="4ECDC4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280160" y="1371600"/>
            <a:ext cx="45720" cy="45720"/>
          </a:xfrm>
          <a:prstGeom prst="ellipse">
            <a:avLst/>
          </a:prstGeom>
          <a:solidFill>
            <a:srgbClr val="4ECDC4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417320" y="1371600"/>
            <a:ext cx="45720" cy="45720"/>
          </a:xfrm>
          <a:prstGeom prst="ellipse">
            <a:avLst/>
          </a:prstGeom>
          <a:solidFill>
            <a:srgbClr val="4ECDC4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554480" y="1371600"/>
            <a:ext cx="45720" cy="45720"/>
          </a:xfrm>
          <a:prstGeom prst="ellipse">
            <a:avLst/>
          </a:prstGeom>
          <a:solidFill>
            <a:srgbClr val="4ECDC4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691640" y="1371600"/>
            <a:ext cx="45720" cy="45720"/>
          </a:xfrm>
          <a:prstGeom prst="ellipse">
            <a:avLst/>
          </a:prstGeom>
          <a:solidFill>
            <a:srgbClr val="4ECDC4">
              <a:alpha val="3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828800" y="1371600"/>
            <a:ext cx="45720" cy="45720"/>
          </a:xfrm>
          <a:prstGeom prst="ellipse">
            <a:avLst/>
          </a:prstGeom>
          <a:solidFill>
            <a:srgbClr val="4ECDC4">
              <a:alpha val="3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965960" y="1371600"/>
            <a:ext cx="45720" cy="45720"/>
          </a:xfrm>
          <a:prstGeom prst="ellipse">
            <a:avLst/>
          </a:prstGeom>
          <a:solidFill>
            <a:srgbClr val="4ECDC4">
              <a:alpha val="3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103120" y="1371600"/>
            <a:ext cx="45720" cy="45720"/>
          </a:xfrm>
          <a:prstGeom prst="ellipse">
            <a:avLst/>
          </a:prstGeom>
          <a:solidFill>
            <a:srgbClr val="4ECDC4">
              <a:alpha val="3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2240280" y="1371600"/>
            <a:ext cx="45720" cy="45720"/>
          </a:xfrm>
          <a:prstGeom prst="ellipse">
            <a:avLst/>
          </a:prstGeom>
          <a:solidFill>
            <a:srgbClr val="4ECDC4">
              <a:alpha val="3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2377440" y="1371600"/>
            <a:ext cx="45720" cy="45720"/>
          </a:xfrm>
          <a:prstGeom prst="ellipse">
            <a:avLst/>
          </a:prstGeom>
          <a:solidFill>
            <a:srgbClr val="4ECDC4">
              <a:alpha val="3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1508760"/>
            <a:ext cx="45720" cy="45720"/>
          </a:xfrm>
          <a:prstGeom prst="ellipse">
            <a:avLst/>
          </a:prstGeom>
          <a:solidFill>
            <a:srgbClr val="4ECDC4">
              <a:alpha val="3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594360" y="1508760"/>
            <a:ext cx="45720" cy="45720"/>
          </a:xfrm>
          <a:prstGeom prst="ellipse">
            <a:avLst/>
          </a:prstGeom>
          <a:solidFill>
            <a:srgbClr val="4ECDC4">
              <a:alpha val="3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" y="1508760"/>
            <a:ext cx="45720" cy="45720"/>
          </a:xfrm>
          <a:prstGeom prst="ellipse">
            <a:avLst/>
          </a:prstGeom>
          <a:solidFill>
            <a:srgbClr val="4ECDC4">
              <a:alpha val="3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68680" y="1508760"/>
            <a:ext cx="45720" cy="45720"/>
          </a:xfrm>
          <a:prstGeom prst="ellipse">
            <a:avLst/>
          </a:prstGeom>
          <a:solidFill>
            <a:srgbClr val="4ECDC4">
              <a:alpha val="3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005840" y="1508760"/>
            <a:ext cx="45720" cy="45720"/>
          </a:xfrm>
          <a:prstGeom prst="ellipse">
            <a:avLst/>
          </a:prstGeom>
          <a:solidFill>
            <a:srgbClr val="4ECDC4">
              <a:alpha val="3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143000" y="1508760"/>
            <a:ext cx="45720" cy="45720"/>
          </a:xfrm>
          <a:prstGeom prst="ellipse">
            <a:avLst/>
          </a:prstGeom>
          <a:solidFill>
            <a:srgbClr val="4ECDC4">
              <a:alpha val="3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280160" y="1508760"/>
            <a:ext cx="45720" cy="45720"/>
          </a:xfrm>
          <a:prstGeom prst="ellipse">
            <a:avLst/>
          </a:prstGeom>
          <a:solidFill>
            <a:srgbClr val="4ECDC4">
              <a:alpha val="3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417320" y="1508760"/>
            <a:ext cx="45720" cy="45720"/>
          </a:xfrm>
          <a:prstGeom prst="ellipse">
            <a:avLst/>
          </a:prstGeom>
          <a:solidFill>
            <a:srgbClr val="4ECDC4">
              <a:alpha val="3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554480" y="1508760"/>
            <a:ext cx="45720" cy="45720"/>
          </a:xfrm>
          <a:prstGeom prst="ellipse">
            <a:avLst/>
          </a:prstGeom>
          <a:solidFill>
            <a:srgbClr val="4ECDC4">
              <a:alpha val="3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691640" y="1508760"/>
            <a:ext cx="45720" cy="45720"/>
          </a:xfrm>
          <a:prstGeom prst="ellipse">
            <a:avLst/>
          </a:prstGeom>
          <a:solidFill>
            <a:srgbClr val="4ECDC4">
              <a:alpha val="3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828800" y="1508760"/>
            <a:ext cx="45720" cy="45720"/>
          </a:xfrm>
          <a:prstGeom prst="ellipse">
            <a:avLst/>
          </a:prstGeom>
          <a:solidFill>
            <a:srgbClr val="4ECDC4">
              <a:alpha val="3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965960" y="1508760"/>
            <a:ext cx="45720" cy="45720"/>
          </a:xfrm>
          <a:prstGeom prst="ellipse">
            <a:avLst/>
          </a:prstGeom>
          <a:solidFill>
            <a:srgbClr val="4ECDC4">
              <a:alpha val="3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2103120" y="1508760"/>
            <a:ext cx="45720" cy="45720"/>
          </a:xfrm>
          <a:prstGeom prst="ellipse">
            <a:avLst/>
          </a:prstGeom>
          <a:solidFill>
            <a:srgbClr val="4ECDC4">
              <a:alpha val="3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240280" y="1508760"/>
            <a:ext cx="45720" cy="45720"/>
          </a:xfrm>
          <a:prstGeom prst="ellipse">
            <a:avLst/>
          </a:prstGeom>
          <a:solidFill>
            <a:srgbClr val="4ECDC4">
              <a:alpha val="3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377440" y="1508760"/>
            <a:ext cx="45720" cy="45720"/>
          </a:xfrm>
          <a:prstGeom prst="ellipse">
            <a:avLst/>
          </a:prstGeom>
          <a:solidFill>
            <a:srgbClr val="4ECDC4">
              <a:alpha val="3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57200" y="1645920"/>
            <a:ext cx="45720" cy="45720"/>
          </a:xfrm>
          <a:prstGeom prst="ellipse">
            <a:avLst/>
          </a:prstGeom>
          <a:solidFill>
            <a:srgbClr val="4ECDC4">
              <a:alpha val="3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594360" y="1645920"/>
            <a:ext cx="45720" cy="45720"/>
          </a:xfrm>
          <a:prstGeom prst="ellipse">
            <a:avLst/>
          </a:prstGeom>
          <a:solidFill>
            <a:srgbClr val="4ECDC4">
              <a:alpha val="3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731520" y="1645920"/>
            <a:ext cx="45720" cy="45720"/>
          </a:xfrm>
          <a:prstGeom prst="ellipse">
            <a:avLst/>
          </a:prstGeom>
          <a:solidFill>
            <a:srgbClr val="4ECDC4">
              <a:alpha val="3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868680" y="1645920"/>
            <a:ext cx="45720" cy="45720"/>
          </a:xfrm>
          <a:prstGeom prst="ellipse">
            <a:avLst/>
          </a:prstGeom>
          <a:solidFill>
            <a:srgbClr val="4ECDC4">
              <a:alpha val="3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005840" y="1645920"/>
            <a:ext cx="45720" cy="45720"/>
          </a:xfrm>
          <a:prstGeom prst="ellipse">
            <a:avLst/>
          </a:prstGeom>
          <a:solidFill>
            <a:srgbClr val="4ECDC4">
              <a:alpha val="3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1143000" y="1645920"/>
            <a:ext cx="45720" cy="45720"/>
          </a:xfrm>
          <a:prstGeom prst="ellipse">
            <a:avLst/>
          </a:prstGeom>
          <a:solidFill>
            <a:srgbClr val="4ECDC4">
              <a:alpha val="3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1280160" y="1645920"/>
            <a:ext cx="45720" cy="45720"/>
          </a:xfrm>
          <a:prstGeom prst="ellipse">
            <a:avLst/>
          </a:prstGeom>
          <a:solidFill>
            <a:srgbClr val="4ECDC4">
              <a:alpha val="3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1417320" y="1645920"/>
            <a:ext cx="45720" cy="45720"/>
          </a:xfrm>
          <a:prstGeom prst="ellipse">
            <a:avLst/>
          </a:prstGeom>
          <a:solidFill>
            <a:srgbClr val="4ECDC4">
              <a:alpha val="3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1554480" y="1645920"/>
            <a:ext cx="45720" cy="45720"/>
          </a:xfrm>
          <a:prstGeom prst="ellipse">
            <a:avLst/>
          </a:prstGeom>
          <a:solidFill>
            <a:srgbClr val="4ECDC4">
              <a:alpha val="3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1691640" y="1645920"/>
            <a:ext cx="45720" cy="45720"/>
          </a:xfrm>
          <a:prstGeom prst="ellipse">
            <a:avLst/>
          </a:prstGeom>
          <a:solidFill>
            <a:srgbClr val="4ECDC4">
              <a:alpha val="3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1828800" y="1645920"/>
            <a:ext cx="45720" cy="45720"/>
          </a:xfrm>
          <a:prstGeom prst="ellipse">
            <a:avLst/>
          </a:prstGeom>
          <a:solidFill>
            <a:srgbClr val="4ECDC4">
              <a:alpha val="3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1965960" y="1645920"/>
            <a:ext cx="45720" cy="45720"/>
          </a:xfrm>
          <a:prstGeom prst="ellipse">
            <a:avLst/>
          </a:prstGeom>
          <a:solidFill>
            <a:srgbClr val="4ECDC4">
              <a:alpha val="3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2103120" y="1645920"/>
            <a:ext cx="45720" cy="45720"/>
          </a:xfrm>
          <a:prstGeom prst="ellipse">
            <a:avLst/>
          </a:prstGeom>
          <a:solidFill>
            <a:srgbClr val="4ECDC4">
              <a:alpha val="30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2240280" y="1645920"/>
            <a:ext cx="45720" cy="45720"/>
          </a:xfrm>
          <a:prstGeom prst="ellipse">
            <a:avLst/>
          </a:prstGeom>
          <a:solidFill>
            <a:srgbClr val="4ECDC4">
              <a:alpha val="30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2377440" y="1645920"/>
            <a:ext cx="45720" cy="45720"/>
          </a:xfrm>
          <a:prstGeom prst="ellipse">
            <a:avLst/>
          </a:prstGeom>
          <a:solidFill>
            <a:srgbClr val="4ECDC4">
              <a:alpha val="3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457200" y="1783080"/>
            <a:ext cx="45720" cy="45720"/>
          </a:xfrm>
          <a:prstGeom prst="ellipse">
            <a:avLst/>
          </a:prstGeom>
          <a:solidFill>
            <a:srgbClr val="4ECDC4">
              <a:alpha val="30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94360" y="1783080"/>
            <a:ext cx="45720" cy="45720"/>
          </a:xfrm>
          <a:prstGeom prst="ellipse">
            <a:avLst/>
          </a:prstGeom>
          <a:solidFill>
            <a:srgbClr val="4ECDC4">
              <a:alpha val="30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31520" y="1783080"/>
            <a:ext cx="45720" cy="45720"/>
          </a:xfrm>
          <a:prstGeom prst="ellipse">
            <a:avLst/>
          </a:prstGeom>
          <a:solidFill>
            <a:srgbClr val="4ECDC4">
              <a:alpha val="30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68680" y="1783080"/>
            <a:ext cx="45720" cy="45720"/>
          </a:xfrm>
          <a:prstGeom prst="ellipse">
            <a:avLst/>
          </a:prstGeom>
          <a:solidFill>
            <a:srgbClr val="4ECDC4">
              <a:alpha val="30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1005840" y="1783080"/>
            <a:ext cx="45720" cy="45720"/>
          </a:xfrm>
          <a:prstGeom prst="ellipse">
            <a:avLst/>
          </a:prstGeom>
          <a:solidFill>
            <a:srgbClr val="4ECDC4">
              <a:alpha val="30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1143000" y="1783080"/>
            <a:ext cx="45720" cy="45720"/>
          </a:xfrm>
          <a:prstGeom prst="ellipse">
            <a:avLst/>
          </a:prstGeom>
          <a:solidFill>
            <a:srgbClr val="4ECDC4">
              <a:alpha val="30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1280160" y="1783080"/>
            <a:ext cx="45720" cy="45720"/>
          </a:xfrm>
          <a:prstGeom prst="ellipse">
            <a:avLst/>
          </a:prstGeom>
          <a:solidFill>
            <a:srgbClr val="4ECDC4">
              <a:alpha val="30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1417320" y="1783080"/>
            <a:ext cx="45720" cy="45720"/>
          </a:xfrm>
          <a:prstGeom prst="ellipse">
            <a:avLst/>
          </a:prstGeom>
          <a:solidFill>
            <a:srgbClr val="4ECDC4">
              <a:alpha val="30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1554480" y="1783080"/>
            <a:ext cx="45720" cy="45720"/>
          </a:xfrm>
          <a:prstGeom prst="ellipse">
            <a:avLst/>
          </a:prstGeom>
          <a:solidFill>
            <a:srgbClr val="4ECDC4">
              <a:alpha val="30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1691640" y="1783080"/>
            <a:ext cx="45720" cy="45720"/>
          </a:xfrm>
          <a:prstGeom prst="ellipse">
            <a:avLst/>
          </a:prstGeom>
          <a:solidFill>
            <a:srgbClr val="4ECDC4">
              <a:alpha val="30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1828800" y="1783080"/>
            <a:ext cx="45720" cy="45720"/>
          </a:xfrm>
          <a:prstGeom prst="ellipse">
            <a:avLst/>
          </a:prstGeom>
          <a:solidFill>
            <a:srgbClr val="4ECDC4">
              <a:alpha val="30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1965960" y="1783080"/>
            <a:ext cx="45720" cy="45720"/>
          </a:xfrm>
          <a:prstGeom prst="ellipse">
            <a:avLst/>
          </a:prstGeom>
          <a:solidFill>
            <a:srgbClr val="4ECDC4">
              <a:alpha val="30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2103120" y="1783080"/>
            <a:ext cx="45720" cy="45720"/>
          </a:xfrm>
          <a:prstGeom prst="ellipse">
            <a:avLst/>
          </a:prstGeom>
          <a:solidFill>
            <a:srgbClr val="4ECDC4">
              <a:alpha val="30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2240280" y="1783080"/>
            <a:ext cx="45720" cy="45720"/>
          </a:xfrm>
          <a:prstGeom prst="ellipse">
            <a:avLst/>
          </a:prstGeom>
          <a:solidFill>
            <a:srgbClr val="4ECDC4">
              <a:alpha val="30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2377440" y="1783080"/>
            <a:ext cx="45720" cy="45720"/>
          </a:xfrm>
          <a:prstGeom prst="ellipse">
            <a:avLst/>
          </a:prstGeom>
          <a:solidFill>
            <a:srgbClr val="4ECDC4">
              <a:alpha val="30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Naive RAG 이해 및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간단한 RAG Agent</a:t>
            </a:r>
            <a:endParaRPr lang="en-US" sz="4800" dirty="0"/>
          </a:p>
        </p:txBody>
      </p:sp>
      <p:sp>
        <p:nvSpPr>
          <p:cNvPr id="63" name="Text 61"/>
          <p:cNvSpPr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ECDC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섹션 3 (75분)</a:t>
            </a:r>
            <a:endParaRPr lang="en-US" sz="2400" dirty="0"/>
          </a:p>
        </p:txBody>
      </p:sp>
      <p:sp>
        <p:nvSpPr>
          <p:cNvPr id="64" name="Shape 62"/>
          <p:cNvSpPr/>
          <p:nvPr/>
        </p:nvSpPr>
        <p:spPr>
          <a:xfrm>
            <a:off x="1828800" y="4754880"/>
            <a:ext cx="548640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 목표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772400" y="1371600"/>
            <a:ext cx="45720" cy="45720"/>
          </a:xfrm>
          <a:prstGeom prst="ellipse">
            <a:avLst/>
          </a:prstGeom>
          <a:solidFill>
            <a:srgbClr val="4ECDC4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909560" y="1371600"/>
            <a:ext cx="45720" cy="45720"/>
          </a:xfrm>
          <a:prstGeom prst="ellipse">
            <a:avLst/>
          </a:prstGeom>
          <a:solidFill>
            <a:srgbClr val="4ECDC4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046720" y="1371600"/>
            <a:ext cx="45720" cy="45720"/>
          </a:xfrm>
          <a:prstGeom prst="ellipse">
            <a:avLst/>
          </a:prstGeom>
          <a:solidFill>
            <a:srgbClr val="4ECDC4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183880" y="1371600"/>
            <a:ext cx="45720" cy="45720"/>
          </a:xfrm>
          <a:prstGeom prst="ellipse">
            <a:avLst/>
          </a:prstGeom>
          <a:solidFill>
            <a:srgbClr val="4ECDC4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321040" y="1371600"/>
            <a:ext cx="45720" cy="45720"/>
          </a:xfrm>
          <a:prstGeom prst="ellipse">
            <a:avLst/>
          </a:prstGeom>
          <a:solidFill>
            <a:srgbClr val="4ECDC4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772400" y="1508760"/>
            <a:ext cx="45720" cy="45720"/>
          </a:xfrm>
          <a:prstGeom prst="ellipse">
            <a:avLst/>
          </a:prstGeom>
          <a:solidFill>
            <a:srgbClr val="4ECDC4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909560" y="1508760"/>
            <a:ext cx="45720" cy="45720"/>
          </a:xfrm>
          <a:prstGeom prst="ellipse">
            <a:avLst/>
          </a:prstGeom>
          <a:solidFill>
            <a:srgbClr val="4ECDC4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046720" y="1508760"/>
            <a:ext cx="45720" cy="45720"/>
          </a:xfrm>
          <a:prstGeom prst="ellipse">
            <a:avLst/>
          </a:prstGeom>
          <a:solidFill>
            <a:srgbClr val="4ECDC4">
              <a:alpha val="3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183880" y="1508760"/>
            <a:ext cx="45720" cy="45720"/>
          </a:xfrm>
          <a:prstGeom prst="ellipse">
            <a:avLst/>
          </a:prstGeom>
          <a:solidFill>
            <a:srgbClr val="4ECDC4">
              <a:alpha val="3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8321040" y="1508760"/>
            <a:ext cx="45720" cy="45720"/>
          </a:xfrm>
          <a:prstGeom prst="ellipse">
            <a:avLst/>
          </a:prstGeom>
          <a:solidFill>
            <a:srgbClr val="4ECDC4">
              <a:alpha val="3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0" y="1645920"/>
            <a:ext cx="45720" cy="45720"/>
          </a:xfrm>
          <a:prstGeom prst="ellipse">
            <a:avLst/>
          </a:prstGeom>
          <a:solidFill>
            <a:srgbClr val="4ECDC4">
              <a:alpha val="3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909560" y="1645920"/>
            <a:ext cx="45720" cy="45720"/>
          </a:xfrm>
          <a:prstGeom prst="ellipse">
            <a:avLst/>
          </a:prstGeom>
          <a:solidFill>
            <a:srgbClr val="4ECDC4">
              <a:alpha val="3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8046720" y="1645920"/>
            <a:ext cx="45720" cy="45720"/>
          </a:xfrm>
          <a:prstGeom prst="ellipse">
            <a:avLst/>
          </a:prstGeom>
          <a:solidFill>
            <a:srgbClr val="4ECDC4">
              <a:alpha val="3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183880" y="1645920"/>
            <a:ext cx="45720" cy="45720"/>
          </a:xfrm>
          <a:prstGeom prst="ellipse">
            <a:avLst/>
          </a:prstGeom>
          <a:solidFill>
            <a:srgbClr val="4ECDC4">
              <a:alpha val="3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8321040" y="1645920"/>
            <a:ext cx="45720" cy="45720"/>
          </a:xfrm>
          <a:prstGeom prst="ellipse">
            <a:avLst/>
          </a:prstGeom>
          <a:solidFill>
            <a:srgbClr val="4ECDC4">
              <a:alpha val="3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18288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RAG의 개념과 작동 원리를 이해한다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14400" y="2560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Vector Database (ChromaDB)를 사용한다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14400" y="32918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 문서 청킹과 임베딩을 구현한다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14400" y="40233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 RAG 기반 챗봇을 완성한다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LLM의 한계 복습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828800"/>
          <a:ext cx="7315200" cy="2286000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</a:tblGrid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5A623"/>
                          </a:solidFill>
                        </a:rPr>
                        <a:t>한계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5A623"/>
                          </a:solidFill>
                        </a:rPr>
                        <a:t>설명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지식 컷오프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학습 데이터 이후 정보 모름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할루시네이션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그럴듯하지만 틀린 정보 생성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도메인 지식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특정 분야 전문 지식 부족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914400" y="4572000"/>
            <a:ext cx="7315200" cy="7315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45720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해결책: RAG!</a:t>
            </a:r>
            <a:endParaRPr lang="en-US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RAG란?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ECDC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Retrieval-Augmented Generation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 증강 생성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371600" y="2743200"/>
            <a:ext cx="6400800" cy="914400"/>
          </a:xfrm>
          <a:prstGeom prst="rect">
            <a:avLst/>
          </a:prstGeom>
          <a:solidFill>
            <a:srgbClr val="2D2D2D"/>
          </a:solidFill>
          <a:ln w="38100">
            <a:solidFill>
              <a:srgbClr val="4ECD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274320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LLM의 지식을 외부 데이터로 확장하는 기술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4114800"/>
            <a:ext cx="7315200" cy="731520"/>
          </a:xfrm>
          <a:prstGeom prst="rect">
            <a:avLst/>
          </a:prstGeom>
          <a:solidFill>
            <a:srgbClr val="2D2D2D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429768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사용자 질문 → [검색] → 관련 문서 → [LLM] → 정확한 답변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RAG 3단계 작동 원리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14400" y="1828800"/>
            <a:ext cx="548640" cy="54864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28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1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828800" y="1828800"/>
            <a:ext cx="6400800" cy="914400"/>
          </a:xfrm>
          <a:prstGeom prst="rect">
            <a:avLst/>
          </a:prstGeom>
          <a:solidFill>
            <a:srgbClr val="2D2D2D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03120" y="20116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ECDC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Retrieval (검색)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 질문 → Vector DB에서 유사 문서 검색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3017520"/>
            <a:ext cx="548640" cy="54864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017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2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828800" y="3017520"/>
            <a:ext cx="6400800" cy="914400"/>
          </a:xfrm>
          <a:prstGeom prst="rect">
            <a:avLst/>
          </a:prstGeom>
          <a:solidFill>
            <a:srgbClr val="2D2D2D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03120" y="320040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ECDC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Augmentation (증강)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검색된 문서를 프롬프트에 추가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914400" y="4206240"/>
            <a:ext cx="548640" cy="54864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206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3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1828800" y="4206240"/>
            <a:ext cx="6400800" cy="914400"/>
          </a:xfrm>
          <a:prstGeom prst="rect">
            <a:avLst/>
          </a:prstGeom>
          <a:solidFill>
            <a:srgbClr val="2D2D2D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03120" y="438912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ECDC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Generation (생성)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LLM이 보강된 컨텍스트로 답변 생성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RAG가 해결하는 문제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1828800"/>
          <a:ext cx="6400800" cy="2743200"/>
        </p:xfrm>
        <a:graphic>
          <a:graphicData uri="http://schemas.openxmlformats.org/drawingml/2006/table">
            <a:tbl>
              <a:tblPr/>
              <a:tblGrid>
                <a:gridCol w="3200400"/>
                <a:gridCol w="320040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5A623"/>
                          </a:solidFill>
                        </a:rPr>
                        <a:t>LLM 한계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5A623"/>
                          </a:solidFill>
                        </a:rPr>
                        <a:t>RAG 해결 방법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지식 컷오프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최신 데이터 실시간 검색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할루시네이션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검증된 소스 기반 답변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도메인 지식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커스텀 지식 베이스 연결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RAG 파이프라인 전체 흐름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14400" y="1828800"/>
            <a:ext cx="7315200" cy="3200400"/>
          </a:xfrm>
          <a:prstGeom prst="rect">
            <a:avLst/>
          </a:prstGeom>
          <a:solidFill>
            <a:srgbClr val="2D2D2D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2011680"/>
            <a:ext cx="694944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[문서 준비 단계]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PDF/텍스트 → 청킹 → 임베딩 → Vector DB 저장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[질문 응답 단계]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질문 → 임베딩 → Vector DB 검색 → 상위 K개 문서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                            ↓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                    프롬프트에 추가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                            ↓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                    LLM 답변 생성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임베딩이란?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ECDC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텍스트를 숫자 벡터로 변환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solidFill>
            <a:srgbClr val="2D2D2D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46888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"고양이"  →  [0.12, -0.34, 0.56, ..., 0.89]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"강아지"  →  [0.11, -0.32, 0.58, ..., 0.87]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"자동차"  →  [0.78, 0.23, -0.45, ..., 0.12]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3931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43891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의미가 비슷하면 → 벡터도 비슷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코사인 유사도로 비교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Vector Database 비교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8229600" cy="32004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5A623"/>
                          </a:solidFill>
                        </a:rPr>
                        <a:t>항목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5A623"/>
                          </a:solidFill>
                        </a:rPr>
                        <a:t>ChromaDB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5A623"/>
                          </a:solidFill>
                        </a:rPr>
                        <a:t>FAISS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5A623"/>
                          </a:solidFill>
                        </a:rPr>
                        <a:t>Pinecone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유형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완전한 DB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검색 라이브러리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클라우드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설치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매우 쉬움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중간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API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로컬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O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O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X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메타데이터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O 내장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X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O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비용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무료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무료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유료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초보자 추천: ChromaDB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선택 이유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371600" y="22860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즉시 사용 가능: 설정 없이 바로 시작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28346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메타데이터 필터링: 문서 관리 내장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33832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영속성 자동화: 저장/로드 자동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설치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14400" y="4572000"/>
            <a:ext cx="7315200" cy="548640"/>
          </a:xfrm>
          <a:prstGeom prst="rect">
            <a:avLst/>
          </a:prstGeom>
          <a:solidFill>
            <a:srgbClr val="2D2D2D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4754880"/>
            <a:ext cx="694944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pip install chromadb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ChromaDB 기본 사용법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8229600" cy="3657600"/>
          </a:xfrm>
          <a:prstGeom prst="rect">
            <a:avLst/>
          </a:prstGeom>
          <a:solidFill>
            <a:srgbClr val="2D2D2D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28800"/>
            <a:ext cx="78638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import chromadb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# 클라이언트 생성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client = chromadb.Client()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# 컬렉션 생성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collection = client.create_collection("my_docs")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# 문서 추가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collection.add(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    documents=["AI는 인공지능입니다", "RAG는 검색 증강 생성입니다"],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    ids=["doc1", "doc2"]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)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# 검색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results = collection.query(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    query_texts=["인공지능이란?"],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    n_results=2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)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 청킹이란?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1463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ECDC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긴 문서를 작은 조각으로 분할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7680960" cy="2286000"/>
          </a:xfrm>
          <a:prstGeom prst="rect">
            <a:avLst/>
          </a:prstGeom>
          <a:solidFill>
            <a:srgbClr val="2D2D2D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468880"/>
            <a:ext cx="73152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┌──────────────────────────────────────┐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│       원본 문서 (10페이지)             │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└──────────────────────────────────────┘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                ↓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┌─────┐ ┌─────┐ ┌─────┐ ┌─────┐ ┌─────┐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│청크1│ │청크2│ │청크3│ │청크4│ │청크5│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└─────┘ └─────┘ └─────┘ └─────┘ └─────┘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  500자   500자   500자   500자   500자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      └──100자 오버랩──┘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청킹 파라미터</a:t>
            </a:r>
            <a:endParaRPr lang="en-US" sz="3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828800"/>
          <a:ext cx="7315200" cy="1828800"/>
        </p:xfrm>
        <a:graphic>
          <a:graphicData uri="http://schemas.openxmlformats.org/drawingml/2006/table">
            <a:tbl>
              <a:tblPr/>
              <a:tblGrid>
                <a:gridCol w="2438400"/>
                <a:gridCol w="2438400"/>
                <a:gridCol w="2438400"/>
              </a:tblGrid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5A623"/>
                          </a:solidFill>
                        </a:rPr>
                        <a:t>파라미터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5A623"/>
                          </a:solidFill>
                        </a:rPr>
                        <a:t>권장값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5A623"/>
                          </a:solidFill>
                        </a:rPr>
                        <a:t>설명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chunk_size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500-1000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청크 크기 (토큰/문자)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chunk_overlap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10-20%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오버랩 (문장 연결성)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914400" y="3931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청킹이 중요한 이유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371600" y="438912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너무 크면 → 검색 정밀도 낮음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너무 작으면 → 문맥 손실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청킹 구현 코드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8229600" cy="3474720"/>
          </a:xfrm>
          <a:prstGeom prst="rect">
            <a:avLst/>
          </a:prstGeom>
          <a:solidFill>
            <a:srgbClr val="2D2D2D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28800"/>
            <a:ext cx="78638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from langchain.text_splitter import RecursiveCharacterTextSplitter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# 텍스트 분할기 설정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splitter = RecursiveCharacterTextSplitter(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    chunk_size=1000,      # 청크 크기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    chunk_overlap=200,    # 오버랩 (20%)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    separators=["\n\n", "\n", ".", "!", "?", ",", " "]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)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# 텍스트 분할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text = "긴 문서 내용..."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chunks = splitter.split_text(text)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print(f"생성된 청크 수: {len(chunks)}")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PDF에서 텍스트 추출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7680960" cy="3200400"/>
          </a:xfrm>
          <a:prstGeom prst="rect">
            <a:avLst/>
          </a:prstGeom>
          <a:solidFill>
            <a:srgbClr val="2D2D2D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28800"/>
            <a:ext cx="73152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from PyPDF2 import PdfReader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def get_pdf_text(pdf_files):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    """PDF 파일들에서 텍스트 추출"""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    text = ""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    for pdf in pdf_files: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        reader = PdfReader(pdf)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        for page in reader.pages: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            text += page.extract_text()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    return text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# 사용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pdf_text = get_pdf_text(uploaded_pdfs)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chunks = splitter.split_text(pdf_text)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RAG 챗봇 v0.2 - 전체 구조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14400" y="2286000"/>
            <a:ext cx="7315200" cy="2286000"/>
          </a:xfrm>
          <a:prstGeom prst="rect">
            <a:avLst/>
          </a:prstGeom>
          <a:solidFill>
            <a:srgbClr val="2D2D2D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2468880"/>
            <a:ext cx="69494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┌─────────────────────────────────────────┐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│            Streamlit UI                  │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├─────────────────────────────────────────┤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│  사이드바: PDF 업로드 → 처리 → 저장      │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├─────────────────────────────────────────┤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│  메인: 질문 → ChromaDB 검색 → LLM 응답   │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└─────────────────────────────────────────┘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RAG 챗봇 - Gemini 임베딩 설정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8229600" cy="3474720"/>
          </a:xfrm>
          <a:prstGeom prst="rect">
            <a:avLst/>
          </a:prstGeom>
          <a:solidFill>
            <a:srgbClr val="2D2D2D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28800"/>
            <a:ext cx="78638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import google.generativeai as genai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# Gemini 임베딩 함수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def get_embedding(text):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    """텍스트를 임베딩 벡터로 변환"""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    result = genai.embed_content(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        model="models/text-embedding-004",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        content=text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    )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    return result['embedding']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# 여러 텍스트 임베딩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def get_embeddings(texts):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    return [get_embedding(t) for t in texts]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RAG 챗봇 - Vector Store 생성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554480"/>
            <a:ext cx="8595360" cy="3657600"/>
          </a:xfrm>
          <a:prstGeom prst="rect">
            <a:avLst/>
          </a:prstGeom>
          <a:solidFill>
            <a:srgbClr val="2D2D2D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737360"/>
            <a:ext cx="82296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import chromadb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def create_vector_store(chunks):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    """청크들을 ChromaDB에 저장"""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    client = chromadb.Client()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    # 기존 컬렉션 삭제 후 재생성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    try: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        client.delete_collection("documents")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    except: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        pass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    collection = client.create_collection(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        name="documents",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        metadata={"hnsw:space": "cosine"}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    )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    # 임베딩 생성 및 저장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    embeddings = get_embeddings(chunks)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    collection.add(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        documents=chunks,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        embeddings=embeddings,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        ids=[f"chunk_{i}" for i in range(len(chunks))]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    )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    return collection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RAG 챗봇 - 검색 및 응답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82880" y="1463040"/>
            <a:ext cx="8778240" cy="3840480"/>
          </a:xfrm>
          <a:prstGeom prst="rect">
            <a:avLst/>
          </a:prstGeom>
          <a:solidFill>
            <a:srgbClr val="2D2D2D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645920"/>
            <a:ext cx="84124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def answer_question(question, collection):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    """질문에 대한 RAG 기반 답변 생성"""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    # 1. 질문 임베딩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    q_embedding = get_embedding(question)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    # 2. 유사 문서 검색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    results = collection.query(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        query_embeddings=[q_embedding],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        n_results=4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    )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    # 3. 컨텍스트 구성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    context = "\n\n".join(results['documents'][0])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    # 4. LLM 프롬프트 생성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    prompt = f"""다음 문서를 참고하여 질문에 답변하세요.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문서: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{context}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질문: {question}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답변:"""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    # 5. Gemini로 답변 생성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    model = genai.GenerativeModel("gemini-2.5-flash-lite")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    response = model.generate_content(prompt)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    return response.text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RAG 챗봇 - Streamlit UI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463040"/>
            <a:ext cx="8595360" cy="3840480"/>
          </a:xfrm>
          <a:prstGeom prst="rect">
            <a:avLst/>
          </a:prstGeom>
          <a:solidFill>
            <a:srgbClr val="2D2D2D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import streamlit as st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st.title("📚 RAG 챗봇 v0.2")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# 사이드바 - 문서 업로드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with st.sidebar: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    st.title("📁 문서 업로드")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    pdf_docs = st.file_uploader(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        "PDF 파일 업로드",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        accept_multiple_files=True,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        type=['pdf']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    )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    if st.button("📥 문서 처리"):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        with st.spinner("처리 중..."):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            # 1. 텍스트 추출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            raw_text = get_pdf_text(pdf_docs)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            # 2. 청킹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            chunks = get_text_chunks(raw_text)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            # 3. Vector Store 생성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            st.session_state.collection = create_vector_store(chunks)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            st.success(f"✅ {len(chunks)}개 청크 처리 완료!")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RAG 챗봇 - 대화 처리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8229600" cy="3474720"/>
          </a:xfrm>
          <a:prstGeom prst="rect">
            <a:avLst/>
          </a:prstGeom>
          <a:solidFill>
            <a:srgbClr val="2D2D2D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28800"/>
            <a:ext cx="78638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# 질문 입력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if prompt := st.chat_input("문서에 대해 질문하세요"):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    # 사용자 메시지 표시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    with st.chat_message("user"):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        st.write(prompt)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    # RAG 응답 생성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    with st.chat_message("assistant"):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        if "collection" not in st.session_state: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            st.error("먼저 문서를 업로드해주세요!")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        else: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            with st.spinner("검색 중..."):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                answer = answer_question(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                    prompt,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                    st.session_state.collection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                )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                st.write(answer)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실습: RAG 챗봇 만들기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준비물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210312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Python 3.9+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테스트용 PDF 파일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패키지 설치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14400" y="3474720"/>
            <a:ext cx="7315200" cy="548640"/>
          </a:xfrm>
          <a:prstGeom prst="rect">
            <a:avLst/>
          </a:prstGeom>
          <a:solidFill>
            <a:srgbClr val="2D2D2D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3657600"/>
            <a:ext cx="694944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pip install streamlit google-generativeai chromadb PyPDF2 langchain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4206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실행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914400" y="4663440"/>
            <a:ext cx="7315200" cy="548640"/>
          </a:xfrm>
          <a:prstGeom prst="rect">
            <a:avLst/>
          </a:prstGeom>
          <a:solidFill>
            <a:srgbClr val="2D2D2D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4846320"/>
            <a:ext cx="694944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streamlit run rag_app.py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초보자 흔한 오류</a:t>
            </a:r>
            <a:endParaRPr lang="en-US" sz="32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8229600" cy="3200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5A623"/>
                          </a:solidFill>
                        </a:rPr>
                        <a:t>문제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5A623"/>
                          </a:solidFill>
                        </a:rPr>
                        <a:t>증상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5A623"/>
                          </a:solidFill>
                        </a:rPr>
                        <a:t>해결책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청크 너무 큼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검색 정밀도 낮음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500-1000으로 축소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오버랩 없음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문장 중간 잘림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최소 10% 오버랩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임베딩 불일치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검색 실패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동일 모델 사용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메모리 부족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대용량 PDF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배치 처리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CD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RAG 개선 방향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Advanced RAG 기법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371600" y="22860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Hybrid Search: 키워드 + 벡터 검색 결합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27432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Re-ranking: 검색 결과 재정렬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32004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Query Expansion: 질문 확장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3657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Multi-hop RAG: 다단계 추론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4389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DC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섹션에서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71600" y="48463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Tool Calling으로 웹 검색 추가!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섹션 3 정리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1463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배운 내용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371600" y="21031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RAG 개념: Retrieval → Augmentation → Generation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26517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임베딩: 텍스트를 벡터로 변환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32004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 ChromaDB: 간단한 Vector Database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37490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 청킹: 문서를 작은 조각으로 분할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71600" y="42976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5. RAG 챗봇: 문서 기반 질의응답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참고 자료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14400" y="2011680"/>
            <a:ext cx="7315200" cy="548640"/>
          </a:xfrm>
          <a:prstGeom prst="rect">
            <a:avLst/>
          </a:prstGeom>
          <a:solidFill>
            <a:srgbClr val="2D2D2D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8720" y="21031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ECDC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LangChain RAG 튜토리얼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python.langchain.com/docs/tutorials/rag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2743200"/>
            <a:ext cx="7315200" cy="548640"/>
          </a:xfrm>
          <a:prstGeom prst="rect">
            <a:avLst/>
          </a:prstGeom>
          <a:solidFill>
            <a:srgbClr val="2D2D2D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28346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ECDC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ChromaDB 문서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docs.trychroma.com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14400" y="3474720"/>
            <a:ext cx="7315200" cy="548640"/>
          </a:xfrm>
          <a:prstGeom prst="rect">
            <a:avLst/>
          </a:prstGeom>
          <a:solidFill>
            <a:srgbClr val="2D2D2D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35661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ECDC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RAG from Scratch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github.com/langchain-ai/rag-from-scratch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14400" y="4206240"/>
            <a:ext cx="7315200" cy="548640"/>
          </a:xfrm>
          <a:prstGeom prst="rect">
            <a:avLst/>
          </a:prstGeom>
          <a:solidFill>
            <a:srgbClr val="2D2D2D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42976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ECDC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Weaviate RAG 소개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weaviate.io/blog/introduction-to-rag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섹션 예고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ECDC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섹션 4: Tool을 이용한 검색 Agent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828800" y="29260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Tool Calling 개념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828800" y="34747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DuckDuckGo 검색 연동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828800" y="40233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검색 Agent 완성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828800" y="45720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최종 배포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400800" y="4114800"/>
            <a:ext cx="45720" cy="45720"/>
          </a:xfrm>
          <a:prstGeom prst="ellipse">
            <a:avLst/>
          </a:prstGeom>
          <a:solidFill>
            <a:srgbClr val="4ECDC4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537960" y="4114800"/>
            <a:ext cx="45720" cy="45720"/>
          </a:xfrm>
          <a:prstGeom prst="ellipse">
            <a:avLst/>
          </a:prstGeom>
          <a:solidFill>
            <a:srgbClr val="4ECDC4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675120" y="4114800"/>
            <a:ext cx="45720" cy="45720"/>
          </a:xfrm>
          <a:prstGeom prst="ellipse">
            <a:avLst/>
          </a:prstGeom>
          <a:solidFill>
            <a:srgbClr val="4ECDC4">
              <a:alpha val="3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812280" y="4114800"/>
            <a:ext cx="45720" cy="45720"/>
          </a:xfrm>
          <a:prstGeom prst="ellipse">
            <a:avLst/>
          </a:prstGeom>
          <a:solidFill>
            <a:srgbClr val="4ECDC4">
              <a:alpha val="3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949440" y="4114800"/>
            <a:ext cx="45720" cy="45720"/>
          </a:xfrm>
          <a:prstGeom prst="ellipse">
            <a:avLst/>
          </a:prstGeom>
          <a:solidFill>
            <a:srgbClr val="4ECDC4">
              <a:alpha val="3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086600" y="4114800"/>
            <a:ext cx="45720" cy="45720"/>
          </a:xfrm>
          <a:prstGeom prst="ellipse">
            <a:avLst/>
          </a:prstGeom>
          <a:solidFill>
            <a:srgbClr val="4ECDC4">
              <a:alpha val="3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0" y="4251960"/>
            <a:ext cx="45720" cy="45720"/>
          </a:xfrm>
          <a:prstGeom prst="ellipse">
            <a:avLst/>
          </a:prstGeom>
          <a:solidFill>
            <a:srgbClr val="4ECDC4">
              <a:alpha val="3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537960" y="4251960"/>
            <a:ext cx="45720" cy="45720"/>
          </a:xfrm>
          <a:prstGeom prst="ellipse">
            <a:avLst/>
          </a:prstGeom>
          <a:solidFill>
            <a:srgbClr val="4ECDC4">
              <a:alpha val="3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675120" y="4251960"/>
            <a:ext cx="45720" cy="45720"/>
          </a:xfrm>
          <a:prstGeom prst="ellipse">
            <a:avLst/>
          </a:prstGeom>
          <a:solidFill>
            <a:srgbClr val="4ECDC4">
              <a:alpha val="3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812280" y="4251960"/>
            <a:ext cx="45720" cy="45720"/>
          </a:xfrm>
          <a:prstGeom prst="ellipse">
            <a:avLst/>
          </a:prstGeom>
          <a:solidFill>
            <a:srgbClr val="4ECDC4">
              <a:alpha val="3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6949440" y="4251960"/>
            <a:ext cx="45720" cy="45720"/>
          </a:xfrm>
          <a:prstGeom prst="ellipse">
            <a:avLst/>
          </a:prstGeom>
          <a:solidFill>
            <a:srgbClr val="4ECDC4">
              <a:alpha val="3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086600" y="4251960"/>
            <a:ext cx="45720" cy="45720"/>
          </a:xfrm>
          <a:prstGeom prst="ellipse">
            <a:avLst/>
          </a:prstGeom>
          <a:solidFill>
            <a:srgbClr val="4ECDC4">
              <a:alpha val="3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0" y="4389120"/>
            <a:ext cx="45720" cy="45720"/>
          </a:xfrm>
          <a:prstGeom prst="ellipse">
            <a:avLst/>
          </a:prstGeom>
          <a:solidFill>
            <a:srgbClr val="4ECDC4">
              <a:alpha val="3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537960" y="4389120"/>
            <a:ext cx="45720" cy="45720"/>
          </a:xfrm>
          <a:prstGeom prst="ellipse">
            <a:avLst/>
          </a:prstGeom>
          <a:solidFill>
            <a:srgbClr val="4ECDC4">
              <a:alpha val="3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675120" y="4389120"/>
            <a:ext cx="45720" cy="45720"/>
          </a:xfrm>
          <a:prstGeom prst="ellipse">
            <a:avLst/>
          </a:prstGeom>
          <a:solidFill>
            <a:srgbClr val="4ECDC4">
              <a:alpha val="3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6812280" y="4389120"/>
            <a:ext cx="45720" cy="45720"/>
          </a:xfrm>
          <a:prstGeom prst="ellipse">
            <a:avLst/>
          </a:prstGeom>
          <a:solidFill>
            <a:srgbClr val="4ECDC4">
              <a:alpha val="3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6949440" y="4389120"/>
            <a:ext cx="45720" cy="45720"/>
          </a:xfrm>
          <a:prstGeom prst="ellipse">
            <a:avLst/>
          </a:prstGeom>
          <a:solidFill>
            <a:srgbClr val="4ECDC4">
              <a:alpha val="3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7086600" y="4389120"/>
            <a:ext cx="45720" cy="45720"/>
          </a:xfrm>
          <a:prstGeom prst="ellipse">
            <a:avLst/>
          </a:prstGeom>
          <a:solidFill>
            <a:srgbClr val="4ECDC4">
              <a:alpha val="30000"/>
            </a:srgbClr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Section 3: Naive RAG</dc:title>
  <dc:subject>PptxGenJS Presentation</dc:subject>
  <dc:creator>AI Education</dc:creator>
  <cp:lastModifiedBy>AI Education</cp:lastModifiedBy>
  <cp:revision>1</cp:revision>
  <dcterms:created xsi:type="dcterms:W3CDTF">2025-12-19T16:14:39Z</dcterms:created>
  <dcterms:modified xsi:type="dcterms:W3CDTF">2025-12-19T16:14:39Z</dcterms:modified>
</cp:coreProperties>
</file>